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57" r:id="rId3"/>
    <p:sldId id="259" r:id="rId4"/>
    <p:sldId id="266" r:id="rId5"/>
    <p:sldId id="272" r:id="rId6"/>
    <p:sldId id="271" r:id="rId7"/>
    <p:sldId id="273" r:id="rId8"/>
    <p:sldId id="265" r:id="rId9"/>
    <p:sldId id="269" r:id="rId10"/>
    <p:sldId id="270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FF0066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80829-3E9D-4951-8E70-1D8C30B893CF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5DC-687A-4D09-AC07-42C1905CD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06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A085DC-687A-4D09-AC07-42C1905CD9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397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10A452-2351-E00C-A1A2-5E4092A7A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F7754F2-902C-D688-EABF-DA06C92FA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059BE9-7D5D-C2B3-CFF2-7AA0B30A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6CE6-B3CD-47AB-983F-3A7B34110B83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2A3DF0-A506-2521-40B0-5B360951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93155C-D619-1066-8040-2B515108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9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A75A9B-33FF-A1E3-8ED4-D0111895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B276595-9D23-66D0-DBEC-831A9773C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8A9D9BF-B2A6-50B3-4901-CBF1A144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E0DD-92B7-43CB-89A6-F54204C31E41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D2FA29-4FF3-7206-8C4F-7EB94C76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5A22EB2-2997-9F6D-775D-75D4C82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7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4CA758-AB1D-EC93-A341-67644FB6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89F4F33-8F23-51D0-B7E3-83895392D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E76198-8C1B-89B2-B246-73FD22CB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AF68A-0A9D-4252-9B38-1583338346F5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BA1611-CC23-F461-F1C3-CD626AD2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24CC66-525A-7A07-34C7-09DFD8F9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F7A1D8-DDD6-0D86-1F8C-7E4DA5EB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331D37-3B88-EB05-1F53-CE5CD6023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2E4B6EA-C960-D655-F15B-FDE0DC40C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88C1B9B-AB73-7D93-B2AF-299B8732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3270-D685-47B1-98E1-C68220121E0E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D9A9AB9-E7D8-B180-7ADB-F8951D36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E6055A3-9D22-6E00-B4F7-B7D1418E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6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A068B4-042F-E449-A616-671C385D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8A5A344-1CF1-C006-0D96-56F90E71C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3F9BF22-EE58-3A2F-6607-E6D1AE07D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E6EBE91-D1FD-984A-AE3B-750E08D92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B8EF389-9071-87FE-AB23-4386FA597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E1E9CF1-C999-15CF-EFEB-94FCBD6A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043F-FB96-4E98-A6C4-661100ACB658}" type="datetime1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7FDB9F7-14BC-7B70-C950-B221DB7F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4A50502-B5F0-F2DF-7C83-C6B0D77E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9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665337-F6FE-5B62-1D3A-B33CAF4A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AFD7968-BDFE-7F51-C10C-5DE1BE14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CC82-A633-4336-B0E6-EA9F7FF7F37D}" type="datetime1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56CCBAB-FFAB-AF70-0967-138E79E7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073FD78-7333-5E91-8240-E1E84D04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E1FA50B-572C-6E50-A97D-0FA3D0E2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205B-37DE-4B1C-954B-63D4B0AD4CC2}" type="datetime1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C1D16E1-616A-69A2-416D-91D63520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9DE1BB-C065-0551-7267-265BF76C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2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7FA812-B4EC-F70E-6964-FFCCEEDE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9BAC86-A1EF-B4A4-4FE5-8629E262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E9FF54-E8F3-55BE-E1EB-51A83B4D5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8B4A24E-5AC9-DB8A-2CC3-F7F7BB1F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F7D3-4340-468E-8706-9E681B4F4C40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6598652-3CA9-4A76-D750-0AA0F476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F2632CF-4A9E-E37D-252E-25A64314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A46F88-80D3-B428-4757-97E56AF4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A862404-286D-DD6F-C76E-4FE67209A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FA153A-A9B6-9F01-2CF5-A697B0CD2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35A111-F00F-D656-7B9F-0597A470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24737-27CD-4878-B8BF-2813C12BC19B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17004D-9A66-514A-374E-82D3E274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B3C0D5F-BACB-9424-8D0A-185F026F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9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7001FD-D780-696C-374A-04EE438D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C05B3A1-A54D-EE40-F498-F943F4C05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84795C-54CC-ED7D-001E-EA686D0A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052C-2FDA-4865-BFCC-894DD270C9FF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55F0CB6-21C1-5178-1A9F-9083DD5F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265ED80-65E5-9DE7-340B-03330AB9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6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23E90A9-6804-3C6E-9524-FD8613AC5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6FE68C2-970A-8124-3B9B-E48F454FB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6803B1D-468B-7F1B-1BD6-5E3E5030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F7F2-44D8-4522-AD26-6ECC0A108AC0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A1EA59-53F6-D055-6494-EE7101A2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FE52E9-D25B-5BE2-A335-AB178503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5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06AD57C-214B-CDF1-7AE5-B7524E1B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1EC3D99-2FD3-8608-9CBE-D7987D29F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F2BCD0-57E4-3FBC-6B34-F13593046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F3AB2-D9D7-4B1D-B473-580975255988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7EA7734-7E44-B506-F301-32D685816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2025-26/V/WEEK- 17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04E6C96-00FF-B0FE-DD4B-F7F58DEE1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D241A-3C76-BF46-9782-8C15CCFC7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2DHzlkUI6s" TargetMode="External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5sxbsa-O-D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89C5B5-E7DC-E1F2-EC66-CBA0014439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" y="11575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3488A1E-60A3-4821-CFF0-5387424D7A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3" y="875145"/>
            <a:ext cx="2839404" cy="5520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F241194-9757-D7A1-B6EF-A779EAC827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10" y="1181099"/>
            <a:ext cx="2253574" cy="228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911C1C-9DBC-5B24-5FF0-4421F65795DB}"/>
              </a:ext>
            </a:extLst>
          </p:cNvPr>
          <p:cNvSpPr txBox="1"/>
          <p:nvPr/>
        </p:nvSpPr>
        <p:spPr>
          <a:xfrm rot="10800000" flipH="1" flipV="1">
            <a:off x="10120543" y="945615"/>
            <a:ext cx="1240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 smtClean="0">
                <a:latin typeface="Amasis MT Pro Black" panose="02040504050005020304" pitchFamily="18" charset="0"/>
              </a:rPr>
              <a:t>Week-17</a:t>
            </a:r>
            <a:endParaRPr lang="en-US" sz="2000" b="1" dirty="0">
              <a:latin typeface="Amasis MT Pro Black" panose="020405040500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6719A65-C30F-E0C7-1897-8FF7F23305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419129" y="3438871"/>
            <a:ext cx="5704261" cy="457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56233" y="3656155"/>
            <a:ext cx="3547382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IN" sz="2400" b="1" dirty="0">
                <a:ln w="0"/>
                <a:solidFill>
                  <a:srgbClr val="0070C0"/>
                </a:solidFill>
                <a:latin typeface="Cooper Black" panose="0208090404030B020404" pitchFamily="18" charset="0"/>
              </a:rPr>
              <a:t>Communication And</a:t>
            </a:r>
          </a:p>
          <a:p>
            <a:pPr algn="ctr"/>
            <a:r>
              <a:rPr lang="en-IN" sz="2400" b="1" dirty="0">
                <a:ln w="0"/>
                <a:solidFill>
                  <a:srgbClr val="0070C0"/>
                </a:solidFill>
                <a:latin typeface="Cooper Black" panose="0208090404030B020404" pitchFamily="18" charset="0"/>
              </a:rPr>
              <a:t> Presentation - Part 1</a:t>
            </a:r>
            <a:endParaRPr lang="en-US" sz="2400" b="1" dirty="0">
              <a:ln w="0"/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78168" y="2467761"/>
            <a:ext cx="43403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Monotype Corsiva" panose="03010101010201010101" pitchFamily="66" charset="0"/>
              </a:rPr>
              <a:t>Lead to Excel </a:t>
            </a:r>
          </a:p>
          <a:p>
            <a:r>
              <a:rPr lang="en-US" dirty="0"/>
              <a:t>        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1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47600" y="456093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Science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fun-fair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Story reading with rhythm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4"/>
                </a:solidFill>
              </a:rPr>
              <a:t>Map </a:t>
            </a:r>
            <a:r>
              <a:rPr lang="en-IN" dirty="0" smtClean="0">
                <a:solidFill>
                  <a:schemeClr val="accent4"/>
                </a:solidFill>
              </a:rPr>
              <a:t>reading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rgbClr val="FF0000"/>
                </a:solidFill>
              </a:rPr>
              <a:t>Motivational videos</a:t>
            </a:r>
            <a:endParaRPr lang="en-IN" dirty="0">
              <a:solidFill>
                <a:srgbClr val="FF0000"/>
              </a:solidFill>
            </a:endParaRPr>
          </a:p>
          <a:p>
            <a:pPr lvl="1"/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3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8" name="Text Box 245">
            <a:extLst>
              <a:ext uri="{FF2B5EF4-FFF2-40B4-BE49-F238E27FC236}">
                <a16:creationId xmlns="" xmlns:a16="http://schemas.microsoft.com/office/drawing/2014/main" id="{AB957DA6-4C43-2585-2AB2-AD22F9AF7E2E}"/>
              </a:ext>
            </a:extLst>
          </p:cNvPr>
          <p:cNvSpPr txBox="1"/>
          <p:nvPr/>
        </p:nvSpPr>
        <p:spPr>
          <a:xfrm>
            <a:off x="4098062" y="3032597"/>
            <a:ext cx="7381980" cy="286232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/>
            <a:endParaRPr lang="en-IN" sz="200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000">
                <a:solidFill>
                  <a:srgbClr val="C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Be a good listener. </a:t>
            </a:r>
            <a:endParaRPr lang="en-IN" sz="2000">
              <a:solidFill>
                <a:srgbClr val="C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000">
                <a:solidFill>
                  <a:srgbClr val="FF0066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Be concrete and clear- specific with your message/information. </a:t>
            </a:r>
            <a:endParaRPr lang="en-IN" sz="2000">
              <a:solidFill>
                <a:srgbClr val="FF006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000">
                <a:solidFill>
                  <a:srgbClr val="00CC66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Non-verbal communication plays vital role in effective communication. Communication with the help of the Body Language. ( Tone, eye contact,  facial expressions &amp; hand gestures)</a:t>
            </a:r>
          </a:p>
          <a:p>
            <a:pPr lvl="0"/>
            <a:r>
              <a:rPr lang="en-IN" sz="2000">
                <a:solidFill>
                  <a:srgbClr val="00CC6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4. </a:t>
            </a: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Don't take stress and anxiety. Be relaxed.</a:t>
            </a:r>
            <a:endParaRPr lang="en-IN" sz="20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E545D85-0C62-8895-545E-055F62D75D39}"/>
              </a:ext>
            </a:extLst>
          </p:cNvPr>
          <p:cNvSpPr/>
          <p:nvPr/>
        </p:nvSpPr>
        <p:spPr>
          <a:xfrm>
            <a:off x="7439062" y="705177"/>
            <a:ext cx="3395802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IN" sz="2400" b="1">
                <a:ln w="0"/>
                <a:solidFill>
                  <a:srgbClr val="00B050"/>
                </a:solidFill>
                <a:latin typeface="Cooper Black" panose="0208090404030B020404" pitchFamily="18" charset="0"/>
              </a:rPr>
              <a:t>Communication and</a:t>
            </a:r>
          </a:p>
          <a:p>
            <a:pPr algn="ctr"/>
            <a:r>
              <a:rPr lang="en-IN" sz="2400" b="1">
                <a:ln w="0"/>
                <a:solidFill>
                  <a:srgbClr val="00B050"/>
                </a:solidFill>
                <a:latin typeface="Cooper Black" panose="0208090404030B020404" pitchFamily="18" charset="0"/>
              </a:rPr>
              <a:t> presentation</a:t>
            </a:r>
            <a:endParaRPr lang="en-US" sz="2400" b="1">
              <a:ln w="0"/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C501753-D06D-2125-664D-AED44BB3123C}"/>
              </a:ext>
            </a:extLst>
          </p:cNvPr>
          <p:cNvSpPr txBox="1"/>
          <p:nvPr/>
        </p:nvSpPr>
        <p:spPr>
          <a:xfrm>
            <a:off x="1268462" y="1519346"/>
            <a:ext cx="97725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en-GB" sz="18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r>
              <a:rPr lang="en-GB" sz="2400" b="1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“</a:t>
            </a:r>
            <a:r>
              <a:rPr lang="en-GB" sz="2400" b="1" i="1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Communication is a process that involves sending and receiving of messages through a verbal and Non-verbal method”</a:t>
            </a:r>
            <a:endParaRPr lang="en-US" sz="2400" b="1">
              <a:solidFill>
                <a:srgbClr val="7030A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" y="2840802"/>
            <a:ext cx="3016029" cy="30160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326" y="2061806"/>
            <a:ext cx="1987427" cy="198742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45102" y="2704962"/>
            <a:ext cx="6516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en-GB" sz="2400" b="1">
                <a:solidFill>
                  <a:srgbClr val="0070C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Skills for effective communication 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2025-26/V/WEEK- 17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0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 animBg="1"/>
      <p:bldP spid="6" grpId="0" build="p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131">
            <a:extLst>
              <a:ext uri="{FF2B5EF4-FFF2-40B4-BE49-F238E27FC236}">
                <a16:creationId xmlns="" xmlns:a16="http://schemas.microsoft.com/office/drawing/2014/main" id="{F194C50A-3C91-3E8A-1E98-531AE097EDEB}"/>
              </a:ext>
            </a:extLst>
          </p:cNvPr>
          <p:cNvSpPr txBox="1"/>
          <p:nvPr/>
        </p:nvSpPr>
        <p:spPr>
          <a:xfrm>
            <a:off x="1507308" y="1689918"/>
            <a:ext cx="1903990" cy="400110"/>
          </a:xfrm>
          <a:prstGeom prst="rect">
            <a:avLst/>
          </a:prstGeom>
          <a:noFill/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Activities</a:t>
            </a:r>
            <a:r>
              <a:rPr lang="en-GB" sz="12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: </a:t>
            </a:r>
            <a:endParaRPr lang="en-IN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54FD064-D1D8-6095-198D-6B2710081184}"/>
              </a:ext>
            </a:extLst>
          </p:cNvPr>
          <p:cNvSpPr txBox="1"/>
          <p:nvPr/>
        </p:nvSpPr>
        <p:spPr>
          <a:xfrm>
            <a:off x="5136633" y="2790537"/>
            <a:ext cx="53545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Hello,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 am going to show you a magic today.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See this is the paper and this is the comb.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Now I am going to tear the paper into pieces.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Then I rub comb to my hair.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And just see the magic, pieces of the paper attract towards the comb.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Do you know why this happen?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This happens due </a:t>
            </a:r>
            <a:r>
              <a:rPr lang="en-GB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static </a:t>
            </a:r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electricity.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just"/>
            <a:r>
              <a:rPr lang="en-GB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38DBAD2-D6C5-BDF7-D7F7-9837AAA61EF3}"/>
              </a:ext>
            </a:extLst>
          </p:cNvPr>
          <p:cNvSpPr txBox="1"/>
          <p:nvPr/>
        </p:nvSpPr>
        <p:spPr>
          <a:xfrm>
            <a:off x="867004" y="2453308"/>
            <a:ext cx="37265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arenR"/>
            </a:pPr>
            <a:r>
              <a:rPr lang="en-GB" sz="2000">
                <a:solidFill>
                  <a:schemeClr val="accent2">
                    <a:lumMod val="7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Talk with non-living things. E.g. </a:t>
            </a:r>
            <a:r>
              <a:rPr lang="en-GB" sz="200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Bench</a:t>
            </a:r>
            <a:r>
              <a:rPr lang="en-GB" sz="2000">
                <a:solidFill>
                  <a:schemeClr val="accent2">
                    <a:lumMod val="7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, </a:t>
            </a:r>
            <a:r>
              <a:rPr lang="en-GB" sz="2000">
                <a:solidFill>
                  <a:schemeClr val="accent6">
                    <a:lumMod val="7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Book</a:t>
            </a:r>
            <a:r>
              <a:rPr lang="en-GB" sz="2000">
                <a:solidFill>
                  <a:schemeClr val="accent2">
                    <a:lumMod val="7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, </a:t>
            </a:r>
            <a:r>
              <a:rPr lang="en-GB" sz="2000">
                <a:solidFill>
                  <a:srgbClr val="0070C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Mobile</a:t>
            </a:r>
            <a:r>
              <a:rPr lang="en-GB" sz="2000">
                <a:solidFill>
                  <a:schemeClr val="accent2">
                    <a:lumMod val="7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</a:t>
            </a:r>
          </a:p>
          <a:p>
            <a:pPr lvl="1"/>
            <a:endParaRPr lang="en-US" sz="2000">
              <a:solidFill>
                <a:srgbClr val="06C0C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CFA0864-AA89-B0EE-4C06-8CE450F3FB94}"/>
              </a:ext>
            </a:extLst>
          </p:cNvPr>
          <p:cNvSpPr txBox="1"/>
          <p:nvPr/>
        </p:nvSpPr>
        <p:spPr>
          <a:xfrm>
            <a:off x="1410085" y="3708156"/>
            <a:ext cx="2703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>
                <a:solidFill>
                  <a:srgbClr val="EF00A5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2) </a:t>
            </a:r>
            <a:r>
              <a:rPr lang="en-GB" sz="1800">
                <a:solidFill>
                  <a:srgbClr val="EF00A5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 wish I would have wings</a:t>
            </a:r>
            <a:r>
              <a:rPr lang="en-GB" sz="18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………..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A16BE8A-1BAA-F058-94E5-992CBFAC6080}"/>
              </a:ext>
            </a:extLst>
          </p:cNvPr>
          <p:cNvSpPr txBox="1"/>
          <p:nvPr/>
        </p:nvSpPr>
        <p:spPr>
          <a:xfrm>
            <a:off x="1410085" y="4720366"/>
            <a:ext cx="2703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>
                <a:solidFill>
                  <a:srgbClr val="06C0C5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3) </a:t>
            </a:r>
            <a:r>
              <a:rPr lang="en-GB" sz="1800">
                <a:solidFill>
                  <a:srgbClr val="06C0C5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Science-fun fair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F553B82-93B5-FC6A-B3E4-974062407ABC}"/>
              </a:ext>
            </a:extLst>
          </p:cNvPr>
          <p:cNvSpPr txBox="1"/>
          <p:nvPr/>
        </p:nvSpPr>
        <p:spPr>
          <a:xfrm>
            <a:off x="6810280" y="5991383"/>
            <a:ext cx="6342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92D05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(Ref. page 60-61 Std. 5</a:t>
            </a:r>
            <a:r>
              <a:rPr lang="en-GB" baseline="30000">
                <a:solidFill>
                  <a:srgbClr val="92D05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 </a:t>
            </a:r>
            <a:r>
              <a:rPr lang="en-GB">
                <a:solidFill>
                  <a:srgbClr val="92D05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English textbook)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000E66A-D4A3-66B8-58CD-B0BAD1DA0460}"/>
              </a:ext>
            </a:extLst>
          </p:cNvPr>
          <p:cNvSpPr txBox="1"/>
          <p:nvPr/>
        </p:nvSpPr>
        <p:spPr>
          <a:xfrm>
            <a:off x="5715487" y="1805682"/>
            <a:ext cx="4704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Watch the experiment and learn to do it yourself</a:t>
            </a: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 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2025-26/V/WEEK- 17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42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4" grpId="0"/>
      <p:bldP spid="8" grpId="0"/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247">
            <a:extLst>
              <a:ext uri="{FF2B5EF4-FFF2-40B4-BE49-F238E27FC236}">
                <a16:creationId xmlns="" xmlns:a16="http://schemas.microsoft.com/office/drawing/2014/main" id="{93D68166-1364-61AE-50B0-D7BA1C1A32B5}"/>
              </a:ext>
            </a:extLst>
          </p:cNvPr>
          <p:cNvSpPr txBox="1"/>
          <p:nvPr/>
        </p:nvSpPr>
        <p:spPr>
          <a:xfrm>
            <a:off x="1427337" y="2853256"/>
            <a:ext cx="9619905" cy="147732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Internal satisfaction </a:t>
            </a: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and </a:t>
            </a:r>
            <a:r>
              <a:rPr lang="en-GB" b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relief</a:t>
            </a: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after expressing our positive or negative feelings.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Interaction improves relationships.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Emotional awareness helps us to know what we need.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It helps to build better relationships.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Emotional Cultivation is continuous and never ending procedure.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8906EA6-AF3C-84B2-0D54-7A7C6BF76419}"/>
              </a:ext>
            </a:extLst>
          </p:cNvPr>
          <p:cNvSpPr txBox="1"/>
          <p:nvPr/>
        </p:nvSpPr>
        <p:spPr>
          <a:xfrm>
            <a:off x="1427337" y="4310341"/>
            <a:ext cx="86449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For Example: </a:t>
            </a:r>
            <a:endParaRPr lang="en-IN" sz="1800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Students share their tiffin with each other.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They share their bench with friends.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Makes friendship with everyone.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He/she shares incidents of the school with </a:t>
            </a:r>
            <a:r>
              <a:rPr lang="en-GB" sz="18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his/her parents</a:t>
            </a: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Helps </a:t>
            </a: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and cares others.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Feel sympathy.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427337" y="1693505"/>
            <a:ext cx="6486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400" b="1">
                <a:solidFill>
                  <a:srgbClr val="00CC66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Emotional Development/ cultivation: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2371" y="2115138"/>
            <a:ext cx="6989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We feel very relaxed after sharing our feelings.</a:t>
            </a:r>
          </a:p>
          <a:p>
            <a:r>
              <a:rPr lang="en-GB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(E.g. happiness, sadness, anger)</a:t>
            </a:r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2025-26/V/WEEK- 17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58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2563896-5036-0983-D834-1C3F089EEA5A}"/>
              </a:ext>
            </a:extLst>
          </p:cNvPr>
          <p:cNvSpPr txBox="1"/>
          <p:nvPr/>
        </p:nvSpPr>
        <p:spPr>
          <a:xfrm>
            <a:off x="3820923" y="1570556"/>
            <a:ext cx="4094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52474" y="819724"/>
            <a:ext cx="3693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Reading with Rhythm</a:t>
            </a:r>
            <a:endParaRPr lang="en-US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41806" y="1627487"/>
            <a:ext cx="92530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‘ 7’ cases </a:t>
            </a:r>
            <a:r>
              <a:rPr lang="en-GB" dirty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</a:t>
            </a:r>
            <a:r>
              <a:rPr lang="en-GB" dirty="0" smtClean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here </a:t>
            </a:r>
            <a:r>
              <a:rPr lang="en-GB" dirty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</a:t>
            </a:r>
            <a:r>
              <a:rPr lang="en-GB" dirty="0" smtClean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ntonation </a:t>
            </a:r>
            <a:r>
              <a:rPr lang="en-GB" dirty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</a:t>
            </a:r>
            <a:r>
              <a:rPr lang="en-GB" dirty="0" smtClean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atters </a:t>
            </a:r>
            <a:r>
              <a:rPr lang="en-GB" dirty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 </a:t>
            </a:r>
            <a:r>
              <a:rPr lang="en-GB" dirty="0" smtClean="0">
                <a:solidFill>
                  <a:srgbClr val="CC0099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English :</a:t>
            </a:r>
            <a:endParaRPr lang="en-US" sz="1600" dirty="0">
              <a:solidFill>
                <a:srgbClr val="CC0099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1) Asking questions:     </a:t>
            </a:r>
            <a:r>
              <a:rPr lang="en-GB" dirty="0">
                <a:solidFill>
                  <a:srgbClr val="00B0F0"/>
                </a:solidFill>
              </a:rPr>
              <a:t>e.g. 1) Have you completed your homework today? ↑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                                                              2) When is your birthday? ↓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41806" y="2662514"/>
            <a:ext cx="84742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2) Making statements:</a:t>
            </a:r>
            <a:endParaRPr lang="en-US" sz="1600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e.g. 1) Please submit your work online, if you can. ↓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41806" y="3479666"/>
            <a:ext cx="99388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3)</a:t>
            </a:r>
            <a:r>
              <a:rPr lang="en-GB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Listing </a:t>
            </a:r>
            <a:r>
              <a:rPr lang="en-GB" b="1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things : </a:t>
            </a:r>
            <a:r>
              <a:rPr lang="en-GB" b="1" dirty="0">
                <a:latin typeface="Bookman Old Style" panose="02050604050505020204" pitchFamily="18" charset="0"/>
              </a:rPr>
              <a:t> </a:t>
            </a:r>
            <a:r>
              <a:rPr lang="en-GB" dirty="0">
                <a:latin typeface="Bookman Old Style" panose="02050604050505020204" pitchFamily="18" charset="0"/>
              </a:rPr>
              <a:t>Items in a list use </a:t>
            </a:r>
            <a:r>
              <a:rPr lang="en-GB" b="1" dirty="0">
                <a:latin typeface="Bookman Old Style" panose="02050604050505020204" pitchFamily="18" charset="0"/>
              </a:rPr>
              <a:t>rising intonation</a:t>
            </a:r>
            <a:r>
              <a:rPr lang="en-GB" dirty="0">
                <a:latin typeface="Bookman Old Style" panose="02050604050505020204" pitchFamily="18" charset="0"/>
              </a:rPr>
              <a:t> until the final item, which uses </a:t>
            </a:r>
            <a:r>
              <a:rPr lang="en-GB" b="1" dirty="0">
                <a:latin typeface="Bookman Old Style" panose="02050604050505020204" pitchFamily="18" charset="0"/>
              </a:rPr>
              <a:t>falling intonation.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</a:rPr>
              <a:t>E.g. - 1) “I love chocolate, ↑ strawberry, ↑ and mango ice cream” ↓</a:t>
            </a:r>
            <a:endParaRPr lang="en-US" dirty="0">
              <a:solidFill>
                <a:srgbClr val="00B0F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7265" y="4695612"/>
            <a:ext cx="98395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FF0066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4) Expressing feelings: </a:t>
            </a:r>
            <a:r>
              <a:rPr lang="en-US">
                <a:latin typeface="Bookman Old Style" panose="02050604050505020204" pitchFamily="18" charset="0"/>
              </a:rPr>
              <a:t>High-energy emotions like happiness, excitement, fright and </a:t>
            </a:r>
          </a:p>
          <a:p>
            <a:r>
              <a:rPr lang="en-US">
                <a:latin typeface="Bookman Old Style" panose="02050604050505020204" pitchFamily="18" charset="0"/>
              </a:rPr>
              <a:t>annoyance usually use a </a:t>
            </a:r>
            <a:r>
              <a:rPr lang="en-US" b="1">
                <a:latin typeface="Bookman Old Style" panose="02050604050505020204" pitchFamily="18" charset="0"/>
              </a:rPr>
              <a:t>rising intonation</a:t>
            </a:r>
            <a:r>
              <a:rPr lang="en-US">
                <a:latin typeface="Bookman Old Style" panose="02050604050505020204" pitchFamily="18" charset="0"/>
              </a:rPr>
              <a:t>.</a:t>
            </a:r>
          </a:p>
          <a:p>
            <a:r>
              <a:rPr lang="en-US">
                <a:latin typeface="Bookman Old Style" panose="02050604050505020204" pitchFamily="18" charset="0"/>
              </a:rPr>
              <a:t> </a:t>
            </a:r>
            <a:r>
              <a:rPr lang="en-GB">
                <a:solidFill>
                  <a:srgbClr val="00B0F0"/>
                </a:solidFill>
                <a:latin typeface="Bookman Old Style" panose="02050604050505020204" pitchFamily="18" charset="0"/>
              </a:rPr>
              <a:t>E.g. - </a:t>
            </a:r>
            <a:r>
              <a:rPr lang="en-US" i="1">
                <a:solidFill>
                  <a:srgbClr val="00B0F0"/>
                </a:solidFill>
                <a:latin typeface="Bookman Old Style" panose="02050604050505020204" pitchFamily="18" charset="0"/>
              </a:rPr>
              <a:t>“I can’t </a:t>
            </a:r>
            <a:r>
              <a:rPr lang="en-US" b="1" i="1">
                <a:solidFill>
                  <a:srgbClr val="00B0F0"/>
                </a:solidFill>
                <a:latin typeface="Bookman Old Style" panose="02050604050505020204" pitchFamily="18" charset="0"/>
              </a:rPr>
              <a:t>believe</a:t>
            </a:r>
            <a:r>
              <a:rPr lang="en-US" i="1">
                <a:solidFill>
                  <a:srgbClr val="00B0F0"/>
                </a:solidFill>
                <a:latin typeface="Bookman Old Style" panose="02050604050505020204" pitchFamily="18" charset="0"/>
              </a:rPr>
              <a:t> he gave you a ride home!”</a:t>
            </a:r>
            <a:endParaRPr lang="en-US">
              <a:solidFill>
                <a:srgbClr val="00B0F0"/>
              </a:solidFill>
              <a:latin typeface="Bookman Old Style" panose="02050604050505020204" pitchFamily="18" charset="0"/>
            </a:endParaRPr>
          </a:p>
          <a:p>
            <a:r>
              <a:rPr lang="en-US" i="1">
                <a:solidFill>
                  <a:srgbClr val="00B0F0"/>
                </a:solidFill>
                <a:latin typeface="Bookman Old Style" panose="02050604050505020204" pitchFamily="18" charset="0"/>
              </a:rPr>
              <a:t>           “Wow, how beautiful the dress is!”</a:t>
            </a:r>
            <a:endParaRPr lang="en-US">
              <a:solidFill>
                <a:srgbClr val="00B0F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2025-26/V/WEEK- 17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72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4010" y="1646714"/>
            <a:ext cx="5267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00CC66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5) Stressing the importance of something:</a:t>
            </a:r>
            <a:endParaRPr lang="en-US" sz="1600">
              <a:solidFill>
                <a:srgbClr val="00CC6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4010" y="3039946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C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6) Contrasting between things:</a:t>
            </a:r>
            <a:endParaRPr lang="en-US" sz="1600">
              <a:solidFill>
                <a:srgbClr val="C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4010" y="4463672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7) Using Question tags:</a:t>
            </a:r>
            <a:endParaRPr lang="en-US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48863" y="2016046"/>
            <a:ext cx="97871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Use rising intonation on specific words in a sentence to emphasize their importance. </a:t>
            </a:r>
            <a:endParaRPr lang="en-US" sz="160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e.g. - </a:t>
            </a:r>
            <a:r>
              <a:rPr lang="en-GB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“I hope you got the </a:t>
            </a:r>
            <a:r>
              <a:rPr lang="en-GB" b="1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red</a:t>
            </a:r>
            <a:r>
              <a:rPr lang="en-GB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scarf.”</a:t>
            </a:r>
            <a:endParaRPr lang="en-US" sz="160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      “I hope you got the red </a:t>
            </a:r>
            <a:r>
              <a:rPr lang="en-GB" b="1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scarf</a:t>
            </a:r>
            <a:r>
              <a:rPr lang="en-GB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.”</a:t>
            </a:r>
            <a:r>
              <a:rPr lang="en-GB" b="1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endParaRPr lang="en-US" sz="160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b="1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23157" y="3456550"/>
            <a:ext cx="98385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Use a rising intonation and place a stress on the two things you want to contrast.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E.g. - </a:t>
            </a:r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1) “I thought he liked </a:t>
            </a:r>
            <a:r>
              <a:rPr lang="en-GB" b="1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dogs</a:t>
            </a:r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but he actually likes </a:t>
            </a:r>
            <a:r>
              <a:rPr lang="en-GB" b="1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cats</a:t>
            </a:r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.”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      2) “You should exercise </a:t>
            </a:r>
            <a:r>
              <a:rPr lang="en-GB" b="1" dirty="0" smtClean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everyday</a:t>
            </a:r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, but I know you don’t have </a:t>
            </a:r>
            <a:r>
              <a:rPr lang="en-GB" dirty="0" smtClean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dirty="0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time.</a:t>
            </a:r>
            <a:endParaRPr lang="en-US" sz="1600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20981" y="4770756"/>
            <a:ext cx="9947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If you are using a question tag to clarify, your voice rises to let the listener know that you expect more information.</a:t>
            </a:r>
            <a:endParaRPr lang="en-US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20981" y="5476170"/>
            <a:ext cx="6042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>
                <a:solidFill>
                  <a:srgbClr val="00B0F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E.g. - You are staying in student hostel, aren’t you? ↓</a:t>
            </a:r>
            <a:endParaRPr lang="en-US" sz="160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2025-26/V/WEEK- 17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6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95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100136" y="19824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sz="160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ctr"/>
            <a:r>
              <a:rPr lang="en-GB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397" y="1357745"/>
            <a:ext cx="7043461" cy="49322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" y="1831217"/>
            <a:ext cx="64284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Read a story with proper </a:t>
            </a:r>
            <a:r>
              <a:rPr lang="en-GB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intonation.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2025-26/V/WEEK- 17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2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172">
            <a:extLst>
              <a:ext uri="{FF2B5EF4-FFF2-40B4-BE49-F238E27FC236}">
                <a16:creationId xmlns="" xmlns:a16="http://schemas.microsoft.com/office/drawing/2014/main" id="{17A7C248-D17A-750A-984F-F422703C4B41}"/>
              </a:ext>
            </a:extLst>
          </p:cNvPr>
          <p:cNvSpPr txBox="1"/>
          <p:nvPr/>
        </p:nvSpPr>
        <p:spPr>
          <a:xfrm>
            <a:off x="7426036" y="693331"/>
            <a:ext cx="4076315" cy="461665"/>
          </a:xfrm>
          <a:prstGeom prst="rect">
            <a:avLst/>
          </a:prstGeom>
          <a:noFill/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b="1">
                <a:solidFill>
                  <a:srgbClr val="00206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Speech Deliverance</a:t>
            </a:r>
            <a:endParaRPr lang="en-IN" sz="2400">
              <a:solidFill>
                <a:srgbClr val="00206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C210573-78A3-9620-F78F-C068AF314391}"/>
              </a:ext>
            </a:extLst>
          </p:cNvPr>
          <p:cNvSpPr txBox="1"/>
          <p:nvPr/>
        </p:nvSpPr>
        <p:spPr>
          <a:xfrm>
            <a:off x="1124667" y="2342813"/>
            <a:ext cx="552950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Wingdings" pitchFamily="2" charset="2"/>
              <a:buChar char=""/>
            </a:pPr>
            <a:r>
              <a:rPr lang="en-GB" sz="2400" b="1">
                <a:solidFill>
                  <a:srgbClr val="00B0F0"/>
                </a:solidFill>
                <a:effectLst/>
                <a:highlight>
                  <a:srgbClr val="D3D3D3"/>
                </a:highlight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Remember these few things when you speak:</a:t>
            </a:r>
            <a:endParaRPr lang="en-IN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Speak clearly.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Don't mumble.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Look at person/persons when you talk to them.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You should not be too loud or too soft, too fast or too slow.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Be polite, and pleasant.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Give a thought to the other person’s feelings and thoughts.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Wingdings" pitchFamily="2" charset="2"/>
              <a:buChar char="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6D2116-9D77-492D-0DC0-12D4DFAE6B8C}"/>
              </a:ext>
            </a:extLst>
          </p:cNvPr>
          <p:cNvSpPr txBox="1"/>
          <p:nvPr/>
        </p:nvSpPr>
        <p:spPr>
          <a:xfrm>
            <a:off x="7198207" y="3429000"/>
            <a:ext cx="43041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itchFamily="2" charset="2"/>
              <a:buChar char=""/>
            </a:pPr>
            <a:r>
              <a:rPr lang="en-GB" sz="2000" b="1">
                <a:solidFill>
                  <a:srgbClr val="0070C0"/>
                </a:solidFill>
                <a:effectLst/>
                <a:highlight>
                  <a:srgbClr val="D3D3D3"/>
                </a:highlight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When you want to give speech:</a:t>
            </a:r>
            <a:endParaRPr lang="en-IN" sz="160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/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160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Plan your Speech in advance.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Note the points and arrange them properly. </a:t>
            </a:r>
            <a:endParaRPr lang="en-IN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>
                <a:latin typeface="Bookman Old Style" panose="02050604050505020204" pitchFamily="18" charset="0"/>
              </a:rPr>
              <a:t>Rehearse the speech in your mind and go ahead</a:t>
            </a:r>
            <a:r>
              <a:rPr lang="en-GB" sz="2000"/>
              <a:t>. </a:t>
            </a:r>
            <a:endParaRPr lang="en-US" sz="2000"/>
          </a:p>
          <a:p>
            <a:r>
              <a:rPr lang="en-GB" sz="2000"/>
              <a:t> </a:t>
            </a:r>
            <a:endParaRPr lang="en-US" sz="2000"/>
          </a:p>
        </p:txBody>
      </p:sp>
      <p:grpSp>
        <p:nvGrpSpPr>
          <p:cNvPr id="6" name="Group 5"/>
          <p:cNvGrpSpPr/>
          <p:nvPr/>
        </p:nvGrpSpPr>
        <p:grpSpPr>
          <a:xfrm>
            <a:off x="4270248" y="1201660"/>
            <a:ext cx="6317703" cy="2077710"/>
            <a:chOff x="3018124" y="1173126"/>
            <a:chExt cx="6317703" cy="2077710"/>
          </a:xfrm>
        </p:grpSpPr>
        <p:sp>
          <p:nvSpPr>
            <p:cNvPr id="2" name="Rectangle 1"/>
            <p:cNvSpPr/>
            <p:nvPr/>
          </p:nvSpPr>
          <p:spPr>
            <a:xfrm>
              <a:off x="3018124" y="1791059"/>
              <a:ext cx="441655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q"/>
              </a:pPr>
              <a:r>
                <a:rPr lang="en-IN" sz="2800" b="1" dirty="0">
                  <a:solidFill>
                    <a:srgbClr val="7030A0"/>
                  </a:solidFill>
                  <a:latin typeface="Abadi" panose="02000000000000000000" pitchFamily="2" charset="0"/>
                  <a:ea typeface="Abadi" panose="02000000000000000000" pitchFamily="2" charset="0"/>
                  <a:cs typeface="Mangal" panose="02040503050203030202" pitchFamily="18" charset="0"/>
                </a:rPr>
                <a:t>Be a Good Speaker.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9906" y="1173126"/>
              <a:ext cx="2085921" cy="2077710"/>
            </a:xfrm>
            <a:prstGeom prst="rect">
              <a:avLst/>
            </a:prstGeom>
          </p:spPr>
        </p:pic>
      </p:grp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2025-26/V/WEEK- 17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95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Box 148"/>
          <p:cNvSpPr txBox="1"/>
          <p:nvPr/>
        </p:nvSpPr>
        <p:spPr>
          <a:xfrm>
            <a:off x="7929382" y="698536"/>
            <a:ext cx="1596912" cy="400110"/>
          </a:xfrm>
          <a:prstGeom prst="rect">
            <a:avLst/>
          </a:prstGeom>
          <a:noFill/>
          <a:ln w="6350">
            <a:solidFill>
              <a:prstClr val="black"/>
            </a:solidFill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000" b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Activity: 2</a:t>
            </a:r>
            <a:endParaRPr lang="en-US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 Box 13"/>
          <p:cNvSpPr txBox="1"/>
          <p:nvPr/>
        </p:nvSpPr>
        <p:spPr>
          <a:xfrm>
            <a:off x="1037262" y="1837106"/>
            <a:ext cx="5186117" cy="4271748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Hello, </a:t>
            </a:r>
            <a:r>
              <a:rPr lang="en-GB" dirty="0" err="1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Chando</a:t>
            </a: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Mama, How are you?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indent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You are looking so bright and beautiful, anything special?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‘Is it your birthday today?’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Oh! Yes, great! Superb!!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Wish you many </a:t>
            </a:r>
            <a:r>
              <a:rPr lang="en-GB" dirty="0" err="1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many</a:t>
            </a: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happy returns of the day!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“So, what’s the plan of special day?”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Dear Mama, I know you live in the sky.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You must have invited all the twinkling stars.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They had definitely decorated your house brightly and beautifully.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Am I right....? </a:t>
            </a:r>
            <a:endParaRPr lang="en-US" dirty="0">
              <a:effectLst/>
              <a:latin typeface="Candara" panose="020E0502030303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  <a:latin typeface="Candara" panose="020E0502030303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Yes, I know</a:t>
            </a:r>
            <a:r>
              <a:rPr lang="en-GB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</a:t>
            </a:r>
            <a:endParaRPr lang="en-US" dirty="0">
              <a:effectLst/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1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endParaRPr lang="en-US" sz="1100" dirty="0">
              <a:effectLst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0" y="1389108"/>
            <a:ext cx="5324856" cy="4622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am dam excited to know about your happy birthday cake.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“Which flavour do you prefer?”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By the way… chocolate cake is my favourite one.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One more thing, please, don’t forget me while celebrating your birthday. 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am your dearest and favourite, aren’t I?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think, I deserve my return gift with toffees and chocolates.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know, you are very tired now.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Please, don’t be too late tomorrow. 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will be eagerly waiting for you tomorrow in our favourite place. 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 am so happy and excited to look at your birthday dress and gifts.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Mind well, will not go to bed without your lullaby.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Bye, see you tomorrow!</a:t>
            </a:r>
            <a:endParaRPr lang="en-US" sz="1600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latin typeface="Candara" panose="020E0502030303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Good night.</a:t>
            </a:r>
            <a:endParaRPr lang="en-US" dirty="0">
              <a:latin typeface="Candara" panose="020E0502030303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111" y="422353"/>
            <a:ext cx="1219200" cy="104648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2025-26/V/WEEK- 17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86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99309" y="1413164"/>
            <a:ext cx="8201891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Homework</a:t>
            </a: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: </a:t>
            </a:r>
            <a:endParaRPr lang="en-GB" dirty="0" smtClean="0">
              <a:latin typeface="Bookman Old Style" panose="0205060405050502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Write and present speech </a:t>
            </a:r>
            <a:r>
              <a:rPr lang="en-GB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on </a:t>
            </a: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following </a:t>
            </a:r>
            <a:r>
              <a:rPr lang="en-GB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topics:</a:t>
            </a:r>
          </a:p>
          <a:p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My friends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Hobbies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Favourite colour, dish, subject.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Likes and dislikes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Dream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What I</a:t>
            </a:r>
            <a:r>
              <a:rPr lang="en-GB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want to be</a:t>
            </a:r>
            <a:r>
              <a:rPr lang="en-GB" sz="2000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.....?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GB" sz="1600" dirty="0"/>
              <a:t> </a:t>
            </a:r>
            <a:endParaRPr lang="en-US" sz="1600" dirty="0"/>
          </a:p>
          <a:p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ctr"/>
            <a:r>
              <a:rPr lang="en-GB" dirty="0"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2025-26/V/WEEK- 17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34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67C10F6-CD1F-A283-213D-776A0470F3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5" name="Text Box 248">
            <a:extLst>
              <a:ext uri="{FF2B5EF4-FFF2-40B4-BE49-F238E27FC236}">
                <a16:creationId xmlns="" xmlns:a16="http://schemas.microsoft.com/office/drawing/2014/main" id="{E3ABF328-0CB5-9F0C-A25B-4B4F64ABFF9E}"/>
              </a:ext>
            </a:extLst>
          </p:cNvPr>
          <p:cNvSpPr txBox="1"/>
          <p:nvPr/>
        </p:nvSpPr>
        <p:spPr>
          <a:xfrm>
            <a:off x="1662545" y="1410355"/>
            <a:ext cx="9544243" cy="470898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sz="12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sz="12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endParaRPr lang="en-IN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 indent="-228600"/>
            <a:r>
              <a:rPr lang="en-GB" sz="20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See</a:t>
            </a:r>
            <a:r>
              <a:rPr lang="en-GB" sz="24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</a:t>
            </a:r>
            <a:r>
              <a:rPr lang="en-GB" sz="2400" dirty="0" err="1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videoes</a:t>
            </a:r>
            <a:r>
              <a:rPr lang="en-GB" sz="24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of </a:t>
            </a:r>
            <a:r>
              <a:rPr lang="en-GB" sz="24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:</a:t>
            </a:r>
            <a:endParaRPr lang="en-GB" sz="2400" dirty="0">
              <a:effectLst/>
              <a:latin typeface="Bookman Old Style" panose="0205060405050502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/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Ø"/>
            </a:pPr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Malala - </a:t>
            </a:r>
            <a:r>
              <a:rPr lang="en-GB" sz="2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3"/>
              </a:rPr>
              <a:t>https://youtu.be/c2DHzlkUI6s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/>
            <a:r>
              <a:rPr lang="en-GB" sz="2400" dirty="0" smtClean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And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Ø"/>
            </a:pPr>
            <a:r>
              <a:rPr lang="en-GB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Sudha</a:t>
            </a:r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GB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Murti</a:t>
            </a:r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- </a:t>
            </a:r>
            <a:r>
              <a:rPr lang="en-GB" sz="2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4"/>
              </a:rPr>
              <a:t>https://youtu.be/5sxbsa-O-D0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/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457200"/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ctr"/>
            <a:r>
              <a:rPr lang="en-GB" sz="2400" b="1" dirty="0">
                <a:solidFill>
                  <a:srgbClr val="00B0F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Reaction &amp; Response = maturity</a:t>
            </a:r>
            <a:endParaRPr lang="en-IN" sz="2400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(Refer page No – 22 to 24 and page No-75)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r>
              <a:rPr lang="en-GB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2025-26/V/WEEK- 17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241A-3C76-BF46-9782-8C15CCFC73E4}" type="slidenum">
              <a:rPr lang="en-US" b="1" smtClean="0">
                <a:solidFill>
                  <a:schemeClr val="tx1"/>
                </a:solidFill>
              </a:rPr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778</Words>
  <Application>Microsoft Office PowerPoint</Application>
  <PresentationFormat>Widescreen</PresentationFormat>
  <Paragraphs>172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Arial Unicode MS</vt:lpstr>
      <vt:lpstr>Abadi</vt:lpstr>
      <vt:lpstr>Amasis MT Pro Black</vt:lpstr>
      <vt:lpstr>Arial</vt:lpstr>
      <vt:lpstr>Bookman Old Style</vt:lpstr>
      <vt:lpstr>Calibri</vt:lpstr>
      <vt:lpstr>Calibri Light</vt:lpstr>
      <vt:lpstr>Candara</vt:lpstr>
      <vt:lpstr>Cooper Black</vt:lpstr>
      <vt:lpstr>Mangal</vt:lpstr>
      <vt:lpstr>Monotype Corsiva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Kachhi M</dc:creator>
  <cp:lastModifiedBy>Exam_Deptt</cp:lastModifiedBy>
  <cp:revision>10</cp:revision>
  <dcterms:created xsi:type="dcterms:W3CDTF">2023-01-09T10:05:45Z</dcterms:created>
  <dcterms:modified xsi:type="dcterms:W3CDTF">2025-06-23T09:58:13Z</dcterms:modified>
</cp:coreProperties>
</file>